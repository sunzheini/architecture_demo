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6A15-6E39-4FFA-B5DC-89EB633E6DC2}"/>
              </a:ext>
            </a:extLst>
          </p:cNvPr>
          <p:cNvSpPr>
            <a:spLocks noGrp="1"/>
          </p:cNvSpPr>
          <p:nvPr>
            <p:ph type="ctrTitle"/>
          </p:nvPr>
        </p:nvSpPr>
        <p:spPr>
          <a:xfrm>
            <a:off x="1638300" y="1371600"/>
            <a:ext cx="8127574" cy="2736443"/>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p:nvPr>
        </p:nvSpPr>
        <p:spPr>
          <a:xfrm>
            <a:off x="1638300" y="4299358"/>
            <a:ext cx="8127574" cy="1187042"/>
          </a:xfrm>
        </p:spPr>
        <p:txBody>
          <a:bodyPr>
            <a:norm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29AE4B9-EDEF-4A2C-B464-332C5C624F1D}"/>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5" name="Footer Placeholder 4">
            <a:extLst>
              <a:ext uri="{FF2B5EF4-FFF2-40B4-BE49-F238E27FC236}">
                <a16:creationId xmlns:a16="http://schemas.microsoft.com/office/drawing/2014/main" id="{62B4C951-4861-4549-8E72-CEECA89E4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E1401-5637-41BC-AC21-891056450A2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616182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3747-9ADB-4FCC-89CE-6E84D13475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AEC9C6-5D7D-4249-8820-D4C99D0AE82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1F35F7-46A1-40A9-ACD7-C4923992674A}"/>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382956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CB1D-064E-46DE-B533-7CDA331EEB61}"/>
              </a:ext>
            </a:extLst>
          </p:cNvPr>
          <p:cNvSpPr>
            <a:spLocks noGrp="1"/>
          </p:cNvSpPr>
          <p:nvPr>
            <p:ph type="title"/>
          </p:nvPr>
        </p:nvSpPr>
        <p:spPr>
          <a:xfrm>
            <a:off x="1638300" y="2748406"/>
            <a:ext cx="8115300" cy="2737994"/>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5FD222C0-D002-4A94-BAFF-FD1A1CCA64CE}"/>
              </a:ext>
            </a:extLst>
          </p:cNvPr>
          <p:cNvSpPr>
            <a:spLocks noGrp="1"/>
          </p:cNvSpPr>
          <p:nvPr>
            <p:ph type="body" idx="1"/>
          </p:nvPr>
        </p:nvSpPr>
        <p:spPr>
          <a:xfrm>
            <a:off x="1638300" y="1371600"/>
            <a:ext cx="8115300" cy="1333272"/>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53E7D7E-EC9F-4AA5-A559-EF556C6AD5EE}"/>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5" name="Footer Placeholder 4">
            <a:extLst>
              <a:ext uri="{FF2B5EF4-FFF2-40B4-BE49-F238E27FC236}">
                <a16:creationId xmlns:a16="http://schemas.microsoft.com/office/drawing/2014/main" id="{2677A8EE-88C1-400C-A23F-656DC76B9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245A4-F9C6-44E9-929F-78C657C8B651}"/>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21953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F34F-B65E-4FA0-87E8-8890F482B383}"/>
              </a:ext>
            </a:extLst>
          </p:cNvPr>
          <p:cNvSpPr>
            <a:spLocks noGrp="1"/>
          </p:cNvSpPr>
          <p:nvPr>
            <p:ph type="title"/>
          </p:nvPr>
        </p:nvSpPr>
        <p:spPr>
          <a:xfrm>
            <a:off x="1638299" y="685800"/>
            <a:ext cx="9382348" cy="137160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D625A67-10CA-4531-93E1-39892C087E0B}"/>
              </a:ext>
            </a:extLst>
          </p:cNvPr>
          <p:cNvSpPr>
            <a:spLocks noGrp="1"/>
          </p:cNvSpPr>
          <p:nvPr>
            <p:ph sz="half" idx="1"/>
          </p:nvPr>
        </p:nvSpPr>
        <p:spPr>
          <a:xfrm>
            <a:off x="1638297" y="2057400"/>
            <a:ext cx="4553103" cy="41250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622BE36-0CAF-4D92-9AC2-9249276B96F2}"/>
              </a:ext>
            </a:extLst>
          </p:cNvPr>
          <p:cNvSpPr>
            <a:spLocks noGrp="1"/>
          </p:cNvSpPr>
          <p:nvPr>
            <p:ph sz="half" idx="2"/>
          </p:nvPr>
        </p:nvSpPr>
        <p:spPr>
          <a:xfrm>
            <a:off x="6477000" y="2057400"/>
            <a:ext cx="4543647" cy="4125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36479-3B04-43BD-9B59-DBF6CA2BF814}"/>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6" name="Footer Placeholder 5">
            <a:extLst>
              <a:ext uri="{FF2B5EF4-FFF2-40B4-BE49-F238E27FC236}">
                <a16:creationId xmlns:a16="http://schemas.microsoft.com/office/drawing/2014/main" id="{0CFD4449-57DB-41D2-B49E-694E7C13F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0CC2C-E50B-47D2-B62F-D5C4C9CDA7E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5451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530B-D0F2-4FC4-A10F-1E54EF82C877}"/>
              </a:ext>
            </a:extLst>
          </p:cNvPr>
          <p:cNvSpPr>
            <a:spLocks noGrp="1"/>
          </p:cNvSpPr>
          <p:nvPr>
            <p:ph type="title"/>
          </p:nvPr>
        </p:nvSpPr>
        <p:spPr>
          <a:xfrm>
            <a:off x="1638300" y="755118"/>
            <a:ext cx="9378304" cy="122276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p:nvPr>
        </p:nvSpPr>
        <p:spPr>
          <a:xfrm>
            <a:off x="1638300"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p:nvPr>
        </p:nvSpPr>
        <p:spPr>
          <a:xfrm>
            <a:off x="1638300"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p:nvPr>
        </p:nvSpPr>
        <p:spPr>
          <a:xfrm>
            <a:off x="6487213"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908453E-B012-4889-9F49-E1351532ADF2}"/>
              </a:ext>
            </a:extLst>
          </p:cNvPr>
          <p:cNvSpPr>
            <a:spLocks noGrp="1"/>
          </p:cNvSpPr>
          <p:nvPr>
            <p:ph sz="quarter" idx="4"/>
          </p:nvPr>
        </p:nvSpPr>
        <p:spPr>
          <a:xfrm>
            <a:off x="6487213"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89FC47A-8514-4C98-B1BE-FF6CC666C580}"/>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229849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007F-6649-4D23-8869-C1CC29D00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B85A1-41F9-4BC1-9C40-3E5D5C0425BF}"/>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4" name="Footer Placeholder 3">
            <a:extLst>
              <a:ext uri="{FF2B5EF4-FFF2-40B4-BE49-F238E27FC236}">
                <a16:creationId xmlns:a16="http://schemas.microsoft.com/office/drawing/2014/main" id="{97B23774-EAA9-47ED-87EF-EE2B29A25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526550-DD4D-45E2-8916-8314C5D0680D}"/>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36220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5FACD-1A4D-49F3-8EA8-21B5C1A6A258}"/>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3" name="Footer Placeholder 2">
            <a:extLst>
              <a:ext uri="{FF2B5EF4-FFF2-40B4-BE49-F238E27FC236}">
                <a16:creationId xmlns:a16="http://schemas.microsoft.com/office/drawing/2014/main" id="{C4FFD9DD-0E4E-4C36-AF85-B3EAD7FE61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00113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7C28-5DEE-493D-ABAD-38E4F2D75924}"/>
              </a:ext>
            </a:extLst>
          </p:cNvPr>
          <p:cNvSpPr>
            <a:spLocks noGrp="1"/>
          </p:cNvSpPr>
          <p:nvPr>
            <p:ph type="title"/>
          </p:nvPr>
        </p:nvSpPr>
        <p:spPr>
          <a:xfrm>
            <a:off x="1225621" y="1085481"/>
            <a:ext cx="3651180" cy="1657719"/>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1A5E79C5-E567-4F12-96B8-8BBEAE3D8B9F}"/>
              </a:ext>
            </a:extLst>
          </p:cNvPr>
          <p:cNvSpPr>
            <a:spLocks noGrp="1"/>
          </p:cNvSpPr>
          <p:nvPr>
            <p:ph idx="1"/>
          </p:nvPr>
        </p:nvSpPr>
        <p:spPr>
          <a:xfrm>
            <a:off x="5676900" y="1132676"/>
            <a:ext cx="5289480" cy="4728374"/>
          </a:xfrm>
        </p:spPr>
        <p:txBody>
          <a:bodyPr/>
          <a:lstStyle>
            <a:lvl1pPr>
              <a:lnSpc>
                <a:spcPct val="110000"/>
              </a:lnSpc>
              <a:defRPr sz="3200"/>
            </a:lvl1pPr>
            <a:lvl2pPr>
              <a:lnSpc>
                <a:spcPct val="110000"/>
              </a:lnSpc>
              <a:defRPr sz="2800"/>
            </a:lvl2pPr>
            <a:lvl3pPr>
              <a:lnSpc>
                <a:spcPct val="110000"/>
              </a:lnSpc>
              <a:defRPr sz="2400"/>
            </a:lvl3pPr>
            <a:lvl4pPr>
              <a:lnSpc>
                <a:spcPct val="110000"/>
              </a:lnSpc>
              <a:defRPr sz="2000"/>
            </a:lvl4pPr>
            <a:lvl5pPr>
              <a:lnSpc>
                <a:spcPct val="110000"/>
              </a:lnSpc>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733DF7F-0B5C-40CE-A65F-779FA7EFBF1C}"/>
              </a:ext>
            </a:extLst>
          </p:cNvPr>
          <p:cNvSpPr>
            <a:spLocks noGrp="1"/>
          </p:cNvSpPr>
          <p:nvPr>
            <p:ph type="body" sz="half" idx="2"/>
          </p:nvPr>
        </p:nvSpPr>
        <p:spPr>
          <a:xfrm>
            <a:off x="1225621" y="2748406"/>
            <a:ext cx="365118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022248C-1826-4833-9592-383B5873AECA}"/>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378682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65BE-C907-4660-A586-71C6A1D101EC}"/>
              </a:ext>
            </a:extLst>
          </p:cNvPr>
          <p:cNvSpPr>
            <a:spLocks noGrp="1"/>
          </p:cNvSpPr>
          <p:nvPr>
            <p:ph type="title"/>
          </p:nvPr>
        </p:nvSpPr>
        <p:spPr>
          <a:xfrm>
            <a:off x="1219200" y="1085481"/>
            <a:ext cx="3657600" cy="1657719"/>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044C8A9-67DF-419C-B2FC-3A879CCEF393}"/>
              </a:ext>
            </a:extLst>
          </p:cNvPr>
          <p:cNvSpPr>
            <a:spLocks noGrp="1"/>
          </p:cNvSpPr>
          <p:nvPr>
            <p:ph type="pic" idx="1"/>
          </p:nvPr>
        </p:nvSpPr>
        <p:spPr>
          <a:xfrm>
            <a:off x="5676900" y="1061885"/>
            <a:ext cx="5331069" cy="47755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DA94A1-3058-402A-9C3F-2F210D91D990}"/>
              </a:ext>
            </a:extLst>
          </p:cNvPr>
          <p:cNvSpPr>
            <a:spLocks noGrp="1"/>
          </p:cNvSpPr>
          <p:nvPr>
            <p:ph type="body" sz="half" idx="2"/>
          </p:nvPr>
        </p:nvSpPr>
        <p:spPr>
          <a:xfrm>
            <a:off x="1219200" y="2748406"/>
            <a:ext cx="365760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BC3CA50-C8D8-4F83-B2F6-BCE825866405}"/>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6" name="Footer Placeholder 5">
            <a:extLst>
              <a:ext uri="{FF2B5EF4-FFF2-40B4-BE49-F238E27FC236}">
                <a16:creationId xmlns:a16="http://schemas.microsoft.com/office/drawing/2014/main" id="{057E5BE3-7B02-4281-BD90-C1FAAF636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E256D-ACD5-438F-BA6F-605E5260E2E6}"/>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046547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D0E6-AD36-493C-9DC3-5ACC2059EC93}"/>
              </a:ext>
            </a:extLst>
          </p:cNvPr>
          <p:cNvSpPr>
            <a:spLocks noGrp="1"/>
          </p:cNvSpPr>
          <p:nvPr>
            <p:ph type="title"/>
          </p:nvPr>
        </p:nvSpPr>
        <p:spPr>
          <a:xfrm>
            <a:off x="1638299" y="685800"/>
            <a:ext cx="8915402" cy="1371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B8558-FA83-4F6C-A6D1-2DF9D3F74BD6}"/>
              </a:ext>
            </a:extLst>
          </p:cNvPr>
          <p:cNvSpPr>
            <a:spLocks noGrp="1"/>
          </p:cNvSpPr>
          <p:nvPr>
            <p:ph type="body" orient="vert" idx="1"/>
          </p:nvPr>
        </p:nvSpPr>
        <p:spPr>
          <a:xfrm>
            <a:off x="1638299" y="2057399"/>
            <a:ext cx="8915401" cy="41148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6DE619-0CC6-4480-ABDE-277D36BDFCBB}"/>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5" name="Footer Placeholder 4">
            <a:extLst>
              <a:ext uri="{FF2B5EF4-FFF2-40B4-BE49-F238E27FC236}">
                <a16:creationId xmlns:a16="http://schemas.microsoft.com/office/drawing/2014/main" id="{140791E6-BE35-4ECA-8AD1-E8EC09B8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4606-B928-42D6-85CC-9576F60E3B5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789561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18D8A-5002-491C-922A-E9624E2DB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882C6-2BE9-4E25-B8BB-A2346A2B0B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BEFF9-B3BC-4C07-BF6C-2E3C91B54B78}"/>
              </a:ext>
            </a:extLst>
          </p:cNvPr>
          <p:cNvSpPr>
            <a:spLocks noGrp="1"/>
          </p:cNvSpPr>
          <p:nvPr>
            <p:ph type="dt" sz="half" idx="10"/>
          </p:nvPr>
        </p:nvSpPr>
        <p:spPr/>
        <p:txBody>
          <a:bodyPr/>
          <a:lstStyle/>
          <a:p>
            <a:fld id="{B6D41BCC-AD73-4203-A5A6-E62EB28B0FE6}" type="datetimeFigureOut">
              <a:rPr lang="en-US" smtClean="0"/>
              <a:t>26.02.2026</a:t>
            </a:fld>
            <a:endParaRPr lang="en-US"/>
          </a:p>
        </p:txBody>
      </p:sp>
      <p:sp>
        <p:nvSpPr>
          <p:cNvPr id="5" name="Footer Placeholder 4">
            <a:extLst>
              <a:ext uri="{FF2B5EF4-FFF2-40B4-BE49-F238E27FC236}">
                <a16:creationId xmlns:a16="http://schemas.microsoft.com/office/drawing/2014/main" id="{CE0F4CF6-CDF1-4AFD-8319-71FD4FED4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1A026-57F4-47F7-B4F0-E0D48E0126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626220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1A689-589E-4A73-9313-EF44F7E4E6BA}"/>
              </a:ext>
            </a:extLst>
          </p:cNvPr>
          <p:cNvSpPr>
            <a:spLocks noGrp="1"/>
          </p:cNvSpPr>
          <p:nvPr>
            <p:ph type="title"/>
          </p:nvPr>
        </p:nvSpPr>
        <p:spPr>
          <a:xfrm>
            <a:off x="1638299" y="685800"/>
            <a:ext cx="8915402" cy="1371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2B11B8-9E77-4144-B9C1-FD164D9A11A6}"/>
              </a:ext>
            </a:extLst>
          </p:cNvPr>
          <p:cNvSpPr>
            <a:spLocks noGrp="1"/>
          </p:cNvSpPr>
          <p:nvPr>
            <p:ph type="body" idx="1"/>
          </p:nvPr>
        </p:nvSpPr>
        <p:spPr>
          <a:xfrm>
            <a:off x="1638300" y="2057400"/>
            <a:ext cx="8915402" cy="41372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D06E4CC-CF79-4C8D-9E5F-1BB517435A6F}"/>
              </a:ext>
            </a:extLst>
          </p:cNvPr>
          <p:cNvSpPr>
            <a:spLocks noGrp="1"/>
          </p:cNvSpPr>
          <p:nvPr>
            <p:ph type="dt" sz="half" idx="2"/>
          </p:nvPr>
        </p:nvSpPr>
        <p:spPr>
          <a:xfrm rot="5400000">
            <a:off x="-1001475" y="1517536"/>
            <a:ext cx="2801123" cy="365125"/>
          </a:xfrm>
          <a:prstGeom prst="rect">
            <a:avLst/>
          </a:prstGeom>
        </p:spPr>
        <p:txBody>
          <a:bodyPr vert="horz" lIns="91440" tIns="45720" rIns="91440" bIns="45720" rtlCol="0" anchor="ctr"/>
          <a:lstStyle>
            <a:lvl1pPr algn="l">
              <a:defRPr sz="800" cap="all" spc="100" baseline="0">
                <a:solidFill>
                  <a:schemeClr val="tx1"/>
                </a:solidFill>
              </a:defRPr>
            </a:lvl1pPr>
          </a:lstStyle>
          <a:p>
            <a:fld id="{B6D41BCC-AD73-4203-A5A6-E62EB28B0FE6}" type="datetimeFigureOut">
              <a:rPr lang="en-US" smtClean="0"/>
              <a:pPr/>
              <a:t>26.02.2026</a:t>
            </a:fld>
            <a:endParaRPr lang="en-US"/>
          </a:p>
        </p:txBody>
      </p:sp>
      <p:sp>
        <p:nvSpPr>
          <p:cNvPr id="5" name="Footer Placeholder 4">
            <a:extLst>
              <a:ext uri="{FF2B5EF4-FFF2-40B4-BE49-F238E27FC236}">
                <a16:creationId xmlns:a16="http://schemas.microsoft.com/office/drawing/2014/main" id="{E3D79449-05F6-4BC7-95DF-F04E1F161498}"/>
              </a:ext>
            </a:extLst>
          </p:cNvPr>
          <p:cNvSpPr>
            <a:spLocks noGrp="1"/>
          </p:cNvSpPr>
          <p:nvPr>
            <p:ph type="ftr" sz="quarter" idx="3"/>
          </p:nvPr>
        </p:nvSpPr>
        <p:spPr>
          <a:xfrm rot="5400000">
            <a:off x="10118764" y="4237870"/>
            <a:ext cx="3344053" cy="365125"/>
          </a:xfrm>
          <a:prstGeom prst="rect">
            <a:avLst/>
          </a:prstGeom>
        </p:spPr>
        <p:txBody>
          <a:bodyPr vert="horz" lIns="91440" tIns="45720" rIns="91440" bIns="45720" rtlCol="0" anchor="ctr"/>
          <a:lstStyle>
            <a:lvl1pPr algn="r">
              <a:defRPr sz="800" cap="all" spc="1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E9317FE5-2D1F-4ECC-9460-08145C3BB933}"/>
              </a:ext>
            </a:extLst>
          </p:cNvPr>
          <p:cNvSpPr>
            <a:spLocks noGrp="1"/>
          </p:cNvSpPr>
          <p:nvPr>
            <p:ph type="sldNum" sz="quarter" idx="4"/>
          </p:nvPr>
        </p:nvSpPr>
        <p:spPr>
          <a:xfrm>
            <a:off x="11228877" y="6319138"/>
            <a:ext cx="710647" cy="365125"/>
          </a:xfrm>
          <a:prstGeom prst="rect">
            <a:avLst/>
          </a:prstGeom>
        </p:spPr>
        <p:txBody>
          <a:bodyPr vert="horz" lIns="91440" tIns="45720" rIns="91440" bIns="45720" rtlCol="0" anchor="ctr"/>
          <a:lstStyle>
            <a:lvl1pPr algn="r">
              <a:defRPr sz="800" cap="all" spc="100" baseline="0">
                <a:solidFill>
                  <a:schemeClr val="tx1"/>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121482296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9" r:id="rId6"/>
    <p:sldLayoutId id="2147483715" r:id="rId7"/>
    <p:sldLayoutId id="2147483716" r:id="rId8"/>
    <p:sldLayoutId id="2147483717" r:id="rId9"/>
    <p:sldLayoutId id="2147483718" r:id="rId10"/>
    <p:sldLayoutId id="2147483720"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learn.microsoft.com/en-us/azure/architecture/ai-ml/guide/ai-agent-design-pattern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visual-paradigm.com/tutorials/data-flow-diagram-example-cs-system.jsp" TargetMode="External"/><Relationship Id="rId2" Type="http://schemas.openxmlformats.org/officeDocument/2006/relationships/hyperlink" Target="https://www.lucidchart.com/pages/er-diagrams" TargetMode="Externa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95AFEC-26E8-411D-EF9F-6C5AA818DC7B}"/>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6C7A07F1-078F-F8DA-6A06-518E575DFDD5}"/>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F140828-4B58-6BB6-A716-4D141FE6D387}"/>
              </a:ext>
            </a:extLst>
          </p:cNvPr>
          <p:cNvSpPr txBox="1"/>
          <p:nvPr/>
        </p:nvSpPr>
        <p:spPr>
          <a:xfrm>
            <a:off x="353961" y="930277"/>
            <a:ext cx="11405419" cy="2031325"/>
          </a:xfrm>
          <a:prstGeom prst="rect">
            <a:avLst/>
          </a:prstGeom>
          <a:noFill/>
        </p:spPr>
        <p:txBody>
          <a:bodyPr wrap="square">
            <a:spAutoFit/>
          </a:bodyPr>
          <a:lstStyle/>
          <a:p>
            <a:r>
              <a:rPr lang="en-US" sz="1800" b="1" dirty="0">
                <a:solidFill>
                  <a:srgbClr val="A9B7C6"/>
                </a:solidFill>
                <a:effectLst/>
                <a:latin typeface="JetBrains Mono"/>
              </a:rPr>
              <a:t>I. High-Level System Design: Diagram and description of overall structure, showing how the 18 modules interact</a:t>
            </a:r>
            <a:r>
              <a:rPr lang="en-US" sz="1800" dirty="0">
                <a:solidFill>
                  <a:srgbClr val="A9B7C6"/>
                </a:solidFill>
                <a:effectLst/>
                <a:latin typeface="JetBrains Mono"/>
              </a:rPr>
              <a:t>.</a:t>
            </a:r>
            <a:br>
              <a:rPr lang="en-US" sz="1800" dirty="0">
                <a:solidFill>
                  <a:srgbClr val="A9B7C6"/>
                </a:solidFill>
                <a:effectLst/>
                <a:latin typeface="JetBrains Mono"/>
              </a:rPr>
            </a:br>
            <a:endParaRPr lang="en-US" sz="1800" dirty="0">
              <a:solidFill>
                <a:srgbClr val="A9B7C6"/>
              </a:solidFill>
              <a:effectLst/>
              <a:latin typeface="JetBrains Mono"/>
            </a:endParaRPr>
          </a:p>
          <a:p>
            <a:r>
              <a:rPr lang="en-US" sz="1800" dirty="0">
                <a:solidFill>
                  <a:srgbClr val="A9B7C6"/>
                </a:solidFill>
                <a:effectLst/>
                <a:latin typeface="JetBrains Mono"/>
              </a:rPr>
              <a:t>1. A block diagram showing your 18 modules as boxes, with lines connecting them to illustrate </a:t>
            </a:r>
            <a:br>
              <a:rPr lang="en-US" sz="1800" dirty="0">
                <a:solidFill>
                  <a:srgbClr val="A9B7C6"/>
                </a:solidFill>
                <a:effectLst/>
                <a:latin typeface="JetBrains Mono"/>
              </a:rPr>
            </a:br>
            <a:r>
              <a:rPr lang="en-US" sz="1800" dirty="0">
                <a:solidFill>
                  <a:srgbClr val="A9B7C6"/>
                </a:solidFill>
                <a:effectLst/>
                <a:latin typeface="JetBrains Mono"/>
              </a:rPr>
              <a:t>communication. It defines the system boundaries, major components, and the interactions between </a:t>
            </a:r>
            <a:br>
              <a:rPr lang="en-US" sz="1800" dirty="0">
                <a:solidFill>
                  <a:srgbClr val="A9B7C6"/>
                </a:solidFill>
                <a:effectLst/>
                <a:latin typeface="JetBrains Mono"/>
              </a:rPr>
            </a:br>
            <a:r>
              <a:rPr lang="en-US" sz="1800" dirty="0">
                <a:solidFill>
                  <a:srgbClr val="A9B7C6"/>
                </a:solidFill>
                <a:effectLst/>
                <a:latin typeface="JetBrains Mono"/>
              </a:rPr>
              <a:t>them.</a:t>
            </a:r>
          </a:p>
          <a:p>
            <a:br>
              <a:rPr lang="en-US" sz="1800" dirty="0">
                <a:solidFill>
                  <a:srgbClr val="A9B7C6"/>
                </a:solidFill>
                <a:effectLst/>
                <a:latin typeface="JetBrains Mono"/>
              </a:rPr>
            </a:br>
            <a:r>
              <a:rPr lang="en-US" sz="1800" dirty="0">
                <a:solidFill>
                  <a:srgbClr val="287BDE"/>
                </a:solidFill>
                <a:effectLst/>
                <a:latin typeface="JetBrains Mono"/>
              </a:rPr>
              <a:t>https://c4model.com/diagrams/system-context</a:t>
            </a:r>
            <a:endParaRPr lang="en-US" sz="1800" dirty="0">
              <a:solidFill>
                <a:srgbClr val="A9B7C6"/>
              </a:solidFill>
              <a:effectLst/>
              <a:latin typeface="JetBrains Mono"/>
            </a:endParaRPr>
          </a:p>
        </p:txBody>
      </p:sp>
      <p:pic>
        <p:nvPicPr>
          <p:cNvPr id="8" name="Picture 7">
            <a:extLst>
              <a:ext uri="{FF2B5EF4-FFF2-40B4-BE49-F238E27FC236}">
                <a16:creationId xmlns:a16="http://schemas.microsoft.com/office/drawing/2014/main" id="{1C219B4B-3FE7-C2ED-1CAF-E1A2C9BDCDEB}"/>
              </a:ext>
            </a:extLst>
          </p:cNvPr>
          <p:cNvPicPr>
            <a:picLocks noChangeAspect="1"/>
          </p:cNvPicPr>
          <p:nvPr/>
        </p:nvPicPr>
        <p:blipFill>
          <a:blip r:embed="rId2"/>
          <a:stretch>
            <a:fillRect/>
          </a:stretch>
        </p:blipFill>
        <p:spPr>
          <a:xfrm>
            <a:off x="5289756" y="2168698"/>
            <a:ext cx="6774426" cy="4588823"/>
          </a:xfrm>
          <a:prstGeom prst="rect">
            <a:avLst/>
          </a:prstGeom>
        </p:spPr>
      </p:pic>
    </p:spTree>
    <p:extLst>
      <p:ext uri="{BB962C8B-B14F-4D97-AF65-F5344CB8AC3E}">
        <p14:creationId xmlns:p14="http://schemas.microsoft.com/office/powerpoint/2010/main" val="213334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196EA-9621-0430-E52A-58946B1ADB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8F1394-E710-BE58-5A1F-1BA5789F79A8}"/>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778005D9-9354-1603-490E-1BFA6775C041}"/>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A3ACB30-F586-146B-E7C5-0869ADAE58C2}"/>
              </a:ext>
            </a:extLst>
          </p:cNvPr>
          <p:cNvSpPr txBox="1"/>
          <p:nvPr/>
        </p:nvSpPr>
        <p:spPr>
          <a:xfrm>
            <a:off x="353961" y="930277"/>
            <a:ext cx="11405419" cy="923330"/>
          </a:xfrm>
          <a:prstGeom prst="rect">
            <a:avLst/>
          </a:prstGeom>
          <a:noFill/>
        </p:spPr>
        <p:txBody>
          <a:bodyPr wrap="square">
            <a:spAutoFit/>
          </a:bodyPr>
          <a:lstStyle/>
          <a:p>
            <a:r>
              <a:rPr lang="en-US" b="1" dirty="0">
                <a:solidFill>
                  <a:srgbClr val="A9B7C6"/>
                </a:solidFill>
                <a:latin typeface="JetBrains Mono"/>
              </a:rPr>
              <a:t>II. </a:t>
            </a:r>
            <a:r>
              <a:rPr lang="en-US" sz="1800" b="1" dirty="0">
                <a:solidFill>
                  <a:srgbClr val="A9B7C6"/>
                </a:solidFill>
                <a:effectLst/>
                <a:latin typeface="JetBrains Mono"/>
              </a:rPr>
              <a:t>Technology Stack Recommendation: Specific languages, frameworks, and databases justified by our requirements.</a:t>
            </a:r>
          </a:p>
          <a:p>
            <a:pPr marL="400050" indent="-400050">
              <a:buAutoNum type="romanUcPeriod"/>
            </a:pPr>
            <a:endParaRPr lang="en-US" b="1" dirty="0">
              <a:solidFill>
                <a:srgbClr val="A9B7C6"/>
              </a:solidFill>
              <a:latin typeface="JetBrains Mono"/>
            </a:endParaRPr>
          </a:p>
          <a:p>
            <a:r>
              <a:rPr lang="en-US" sz="1800" dirty="0">
                <a:solidFill>
                  <a:srgbClr val="A9B7C6"/>
                </a:solidFill>
                <a:effectLst/>
                <a:latin typeface="JetBrains Mono"/>
              </a:rPr>
              <a:t>1. A table with:</a:t>
            </a:r>
          </a:p>
        </p:txBody>
      </p:sp>
      <p:pic>
        <p:nvPicPr>
          <p:cNvPr id="11" name="Picture 10">
            <a:extLst>
              <a:ext uri="{FF2B5EF4-FFF2-40B4-BE49-F238E27FC236}">
                <a16:creationId xmlns:a16="http://schemas.microsoft.com/office/drawing/2014/main" id="{680E78AF-360B-3862-DD0F-FEE024521C7A}"/>
              </a:ext>
            </a:extLst>
          </p:cNvPr>
          <p:cNvPicPr>
            <a:picLocks noChangeAspect="1"/>
          </p:cNvPicPr>
          <p:nvPr/>
        </p:nvPicPr>
        <p:blipFill>
          <a:blip r:embed="rId2"/>
          <a:stretch>
            <a:fillRect/>
          </a:stretch>
        </p:blipFill>
        <p:spPr>
          <a:xfrm>
            <a:off x="127819" y="1853608"/>
            <a:ext cx="11936362" cy="1077130"/>
          </a:xfrm>
          <a:prstGeom prst="rect">
            <a:avLst/>
          </a:prstGeom>
        </p:spPr>
      </p:pic>
    </p:spTree>
    <p:extLst>
      <p:ext uri="{BB962C8B-B14F-4D97-AF65-F5344CB8AC3E}">
        <p14:creationId xmlns:p14="http://schemas.microsoft.com/office/powerpoint/2010/main" val="1221817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49BFB-8088-AB80-10E6-D661EDA9D7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EF225-A11A-CF1B-0042-CCA8C103A86A}"/>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13523FC9-4AF7-D07B-6156-370D7D2C4C03}"/>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CA809F-8D9D-A0BF-8C2D-3CEDD792E667}"/>
              </a:ext>
            </a:extLst>
          </p:cNvPr>
          <p:cNvSpPr txBox="1"/>
          <p:nvPr/>
        </p:nvSpPr>
        <p:spPr>
          <a:xfrm>
            <a:off x="353961" y="930277"/>
            <a:ext cx="11405419" cy="4247317"/>
          </a:xfrm>
          <a:prstGeom prst="rect">
            <a:avLst/>
          </a:prstGeom>
          <a:noFill/>
        </p:spPr>
        <p:txBody>
          <a:bodyPr wrap="square">
            <a:spAutoFit/>
          </a:bodyPr>
          <a:lstStyle/>
          <a:p>
            <a:r>
              <a:rPr lang="en-US" sz="1800" b="1" dirty="0">
                <a:solidFill>
                  <a:srgbClr val="A9B7C6"/>
                </a:solidFill>
                <a:effectLst/>
                <a:latin typeface="JetBrains Mono"/>
              </a:rPr>
              <a:t>III. AI Integration Strategy: A blueprint for where and how AI agents will be embedded in each applicable module (e.g., agent orchestration, model hosting, data flow)</a:t>
            </a:r>
            <a:r>
              <a:rPr lang="en-US" sz="1800" dirty="0">
                <a:solidFill>
                  <a:srgbClr val="A9B7C6"/>
                </a:solidFill>
                <a:effectLst/>
                <a:latin typeface="JetBrains Mono"/>
              </a:rPr>
              <a:t>.</a:t>
            </a:r>
            <a:br>
              <a:rPr lang="en-US" sz="1800" dirty="0">
                <a:solidFill>
                  <a:srgbClr val="A9B7C6"/>
                </a:solidFill>
                <a:effectLst/>
                <a:latin typeface="JetBrains Mono"/>
              </a:rPr>
            </a:br>
            <a:endParaRPr lang="en-US" sz="1800" dirty="0">
              <a:solidFill>
                <a:srgbClr val="A9B7C6"/>
              </a:solidFill>
              <a:effectLst/>
              <a:latin typeface="JetBrains Mono"/>
            </a:endParaRPr>
          </a:p>
          <a:p>
            <a:r>
              <a:rPr lang="en-US" sz="1800" dirty="0">
                <a:solidFill>
                  <a:srgbClr val="A9B7C6"/>
                </a:solidFill>
                <a:effectLst/>
                <a:latin typeface="JetBrains Mono"/>
              </a:rPr>
              <a:t>1. A blueprint detailing how AI agents will be built, hosted, and invoked within the modules. Also prevents the 18 AI agents from becoming chaotic, unmanageable, or conflicting with each other. It defines the "rules of engagement" for all AI components.</a:t>
            </a:r>
          </a:p>
          <a:p>
            <a:endParaRPr lang="en-US" sz="1800" dirty="0">
              <a:solidFill>
                <a:srgbClr val="A9B7C6"/>
              </a:solidFill>
              <a:effectLst/>
              <a:latin typeface="JetBrains Mono"/>
            </a:endParaRPr>
          </a:p>
          <a:p>
            <a:r>
              <a:rPr lang="en-US" sz="1800" dirty="0">
                <a:solidFill>
                  <a:srgbClr val="A9B7C6"/>
                </a:solidFill>
                <a:effectLst/>
                <a:latin typeface="JetBrains Mono"/>
              </a:rPr>
              <a:t>2. Visual: An Orchestration Diagram. This shows how a user request triggers an agent. For example: User Input -&gt; Supervisor Agent -&gt; [Module A Agent | Module B Agent] -&gt; Response.</a:t>
            </a:r>
          </a:p>
          <a:p>
            <a:endParaRPr lang="en-US" sz="1800" dirty="0">
              <a:solidFill>
                <a:srgbClr val="A9B7C6"/>
              </a:solidFill>
              <a:effectLst/>
              <a:latin typeface="JetBrains Mono"/>
            </a:endParaRPr>
          </a:p>
          <a:p>
            <a:r>
              <a:rPr lang="en-US" dirty="0">
                <a:solidFill>
                  <a:srgbClr val="A9B7C6"/>
                </a:solidFill>
                <a:latin typeface="JetBrains Mono"/>
              </a:rPr>
              <a:t>3</a:t>
            </a:r>
            <a:r>
              <a:rPr lang="en-US" sz="1800" dirty="0">
                <a:solidFill>
                  <a:srgbClr val="A9B7C6"/>
                </a:solidFill>
                <a:effectLst/>
                <a:latin typeface="JetBrains Mono"/>
              </a:rPr>
              <a:t>. "Agent Topology" Diagram</a:t>
            </a:r>
          </a:p>
          <a:p>
            <a:r>
              <a:rPr lang="en-US" sz="1800" dirty="0">
                <a:solidFill>
                  <a:srgbClr val="A9B7C6"/>
                </a:solidFill>
                <a:effectLst/>
                <a:latin typeface="JetBrains Mono"/>
                <a:hlinkClick r:id="rId2"/>
              </a:rPr>
              <a:t>https://learn.microsoft.com/en-us/azure/architecture/ai-ml/guide/ai-agent-design-patterns</a:t>
            </a:r>
            <a:endParaRPr lang="en-US" sz="1800" dirty="0">
              <a:solidFill>
                <a:srgbClr val="A9B7C6"/>
              </a:solidFill>
              <a:effectLst/>
              <a:latin typeface="JetBrains Mono"/>
            </a:endParaRPr>
          </a:p>
          <a:p>
            <a:endParaRPr lang="en-US" sz="1800" dirty="0">
              <a:solidFill>
                <a:srgbClr val="A9B7C6"/>
              </a:solidFill>
              <a:effectLst/>
              <a:latin typeface="JetBrains Mono"/>
            </a:endParaRPr>
          </a:p>
          <a:p>
            <a:r>
              <a:rPr lang="en-US" sz="1800" dirty="0">
                <a:solidFill>
                  <a:srgbClr val="A9B7C6"/>
                </a:solidFill>
                <a:effectLst/>
                <a:latin typeface="JetBrains Mono"/>
              </a:rPr>
              <a:t>4. "Agent Definition" Table</a:t>
            </a:r>
          </a:p>
          <a:p>
            <a:endParaRPr lang="en-US" sz="1800" dirty="0">
              <a:solidFill>
                <a:srgbClr val="A9B7C6"/>
              </a:solidFill>
              <a:effectLst/>
              <a:latin typeface="JetBrains Mono"/>
            </a:endParaRPr>
          </a:p>
        </p:txBody>
      </p:sp>
      <p:pic>
        <p:nvPicPr>
          <p:cNvPr id="5" name="Picture 4">
            <a:extLst>
              <a:ext uri="{FF2B5EF4-FFF2-40B4-BE49-F238E27FC236}">
                <a16:creationId xmlns:a16="http://schemas.microsoft.com/office/drawing/2014/main" id="{8CDC267F-6A71-6D35-EFF8-3183E15BA60E}"/>
              </a:ext>
            </a:extLst>
          </p:cNvPr>
          <p:cNvPicPr>
            <a:picLocks noChangeAspect="1"/>
          </p:cNvPicPr>
          <p:nvPr/>
        </p:nvPicPr>
        <p:blipFill>
          <a:blip r:embed="rId3"/>
          <a:stretch>
            <a:fillRect/>
          </a:stretch>
        </p:blipFill>
        <p:spPr>
          <a:xfrm>
            <a:off x="195854" y="4959862"/>
            <a:ext cx="11563526" cy="928458"/>
          </a:xfrm>
          <a:prstGeom prst="rect">
            <a:avLst/>
          </a:prstGeom>
        </p:spPr>
      </p:pic>
    </p:spTree>
    <p:extLst>
      <p:ext uri="{BB962C8B-B14F-4D97-AF65-F5344CB8AC3E}">
        <p14:creationId xmlns:p14="http://schemas.microsoft.com/office/powerpoint/2010/main" val="20657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B26B9-1E28-34B2-7720-3B57D64994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87DA0E-8E06-03A8-8190-C2E545D2C720}"/>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13644714-85D2-0381-C5B8-58D05EF80CA0}"/>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D180780-79AB-35AF-CE6F-7DD9CD993D7A}"/>
              </a:ext>
            </a:extLst>
          </p:cNvPr>
          <p:cNvSpPr txBox="1"/>
          <p:nvPr/>
        </p:nvSpPr>
        <p:spPr>
          <a:xfrm>
            <a:off x="353961" y="930277"/>
            <a:ext cx="11405419" cy="3693319"/>
          </a:xfrm>
          <a:prstGeom prst="rect">
            <a:avLst/>
          </a:prstGeom>
          <a:noFill/>
        </p:spPr>
        <p:txBody>
          <a:bodyPr wrap="square">
            <a:spAutoFit/>
          </a:bodyPr>
          <a:lstStyle/>
          <a:p>
            <a:r>
              <a:rPr lang="en-US" sz="1800" b="1" dirty="0">
                <a:solidFill>
                  <a:srgbClr val="A9B7C6"/>
                </a:solidFill>
                <a:effectLst/>
                <a:latin typeface="JetBrains Mono"/>
              </a:rPr>
              <a:t>IV. Data Architecture: ER diagrams and specifications for data storage and flow between modules</a:t>
            </a:r>
            <a:r>
              <a:rPr lang="en-US" sz="1800" dirty="0">
                <a:solidFill>
                  <a:srgbClr val="A9B7C6"/>
                </a:solidFill>
                <a:effectLst/>
                <a:latin typeface="JetBrains Mono"/>
              </a:rPr>
              <a:t>.</a:t>
            </a:r>
            <a:br>
              <a:rPr lang="en-US" sz="1800" dirty="0">
                <a:solidFill>
                  <a:srgbClr val="A9B7C6"/>
                </a:solidFill>
                <a:effectLst/>
                <a:latin typeface="JetBrains Mono"/>
              </a:rPr>
            </a:br>
            <a:endParaRPr lang="en-US" sz="1800" dirty="0">
              <a:solidFill>
                <a:srgbClr val="A9B7C6"/>
              </a:solidFill>
              <a:effectLst/>
              <a:latin typeface="JetBrains Mono"/>
            </a:endParaRPr>
          </a:p>
          <a:p>
            <a:r>
              <a:rPr lang="en-US" sz="1800" dirty="0">
                <a:solidFill>
                  <a:srgbClr val="A9B7C6"/>
                </a:solidFill>
                <a:effectLst/>
                <a:latin typeface="JetBrains Mono"/>
              </a:rPr>
              <a:t>The design of your databases and how data moves between them. Crucial for 18 modules to share a single source of truth.</a:t>
            </a:r>
          </a:p>
          <a:p>
            <a:endParaRPr lang="en-US" dirty="0">
              <a:solidFill>
                <a:srgbClr val="A9B7C6"/>
              </a:solidFill>
              <a:latin typeface="JetBrains Mono"/>
            </a:endParaRPr>
          </a:p>
          <a:p>
            <a:r>
              <a:rPr lang="en-US" sz="1800" dirty="0">
                <a:solidFill>
                  <a:srgbClr val="A9B7C6"/>
                </a:solidFill>
                <a:effectLst/>
                <a:latin typeface="JetBrains Mono"/>
              </a:rPr>
              <a:t>1. An Entity-Relationship Diagram (ERD) . Tables (entities) with columns (attributes) connected by lines showing relationships (one-to-many, many-to-many).</a:t>
            </a:r>
          </a:p>
          <a:p>
            <a:r>
              <a:rPr lang="en-US" sz="1800" dirty="0">
                <a:solidFill>
                  <a:srgbClr val="A9B7C6"/>
                </a:solidFill>
                <a:effectLst/>
                <a:latin typeface="JetBrains Mono"/>
                <a:hlinkClick r:id="rId2"/>
              </a:rPr>
              <a:t>https://www.lucidchart.com/pages/er-diagrams</a:t>
            </a:r>
            <a:endParaRPr lang="en-US" sz="1800" dirty="0">
              <a:solidFill>
                <a:srgbClr val="A9B7C6"/>
              </a:solidFill>
              <a:effectLst/>
              <a:latin typeface="JetBrains Mono"/>
            </a:endParaRPr>
          </a:p>
          <a:p>
            <a:endParaRPr lang="en-US" sz="1800" dirty="0">
              <a:solidFill>
                <a:srgbClr val="A9B7C6"/>
              </a:solidFill>
              <a:effectLst/>
              <a:latin typeface="JetBrains Mono"/>
            </a:endParaRPr>
          </a:p>
          <a:p>
            <a:r>
              <a:rPr lang="en-US" sz="1800" dirty="0">
                <a:solidFill>
                  <a:srgbClr val="A9B7C6"/>
                </a:solidFill>
                <a:effectLst/>
                <a:latin typeface="JetBrains Mono"/>
              </a:rPr>
              <a:t>2. A Data Flow Diagram (DFD) . Shows where data originates, how it transforms, and where it is stored.</a:t>
            </a:r>
          </a:p>
          <a:p>
            <a:r>
              <a:rPr lang="en-US" sz="1800" dirty="0">
                <a:solidFill>
                  <a:srgbClr val="A9B7C6"/>
                </a:solidFill>
                <a:effectLst/>
                <a:latin typeface="JetBrains Mono"/>
                <a:hlinkClick r:id="rId3"/>
              </a:rPr>
              <a:t>https://www.visual-paradigm.com/tutorials/data-flow-diagram-example-cs-system.jsp</a:t>
            </a:r>
            <a:endParaRPr lang="en-US" sz="1800" dirty="0">
              <a:solidFill>
                <a:srgbClr val="A9B7C6"/>
              </a:solidFill>
              <a:effectLst/>
              <a:latin typeface="JetBrains Mono"/>
            </a:endParaRPr>
          </a:p>
          <a:p>
            <a:endParaRPr lang="en-US" sz="1800" dirty="0">
              <a:solidFill>
                <a:srgbClr val="A9B7C6"/>
              </a:solidFill>
              <a:effectLst/>
              <a:latin typeface="JetBrains Mono"/>
            </a:endParaRPr>
          </a:p>
          <a:p>
            <a:r>
              <a:rPr lang="en-US" sz="1800" dirty="0">
                <a:solidFill>
                  <a:srgbClr val="A9B7C6"/>
                </a:solidFill>
                <a:effectLst/>
                <a:latin typeface="JetBrains Mono"/>
              </a:rPr>
              <a:t>3. Data dictionary defining every data field.</a:t>
            </a:r>
          </a:p>
        </p:txBody>
      </p:sp>
      <p:pic>
        <p:nvPicPr>
          <p:cNvPr id="5" name="Picture 4">
            <a:extLst>
              <a:ext uri="{FF2B5EF4-FFF2-40B4-BE49-F238E27FC236}">
                <a16:creationId xmlns:a16="http://schemas.microsoft.com/office/drawing/2014/main" id="{AEEFDA48-A431-9022-D5FB-8B9465367059}"/>
              </a:ext>
            </a:extLst>
          </p:cNvPr>
          <p:cNvPicPr>
            <a:picLocks noChangeAspect="1"/>
          </p:cNvPicPr>
          <p:nvPr/>
        </p:nvPicPr>
        <p:blipFill>
          <a:blip r:embed="rId4"/>
          <a:stretch>
            <a:fillRect/>
          </a:stretch>
        </p:blipFill>
        <p:spPr>
          <a:xfrm>
            <a:off x="4758812" y="4140371"/>
            <a:ext cx="2939845" cy="2561619"/>
          </a:xfrm>
          <a:prstGeom prst="rect">
            <a:avLst/>
          </a:prstGeom>
        </p:spPr>
      </p:pic>
      <p:pic>
        <p:nvPicPr>
          <p:cNvPr id="9" name="Picture 8">
            <a:extLst>
              <a:ext uri="{FF2B5EF4-FFF2-40B4-BE49-F238E27FC236}">
                <a16:creationId xmlns:a16="http://schemas.microsoft.com/office/drawing/2014/main" id="{00C66B5C-E3EF-B651-D99D-FF3254BDD3EC}"/>
              </a:ext>
            </a:extLst>
          </p:cNvPr>
          <p:cNvPicPr>
            <a:picLocks noChangeAspect="1"/>
          </p:cNvPicPr>
          <p:nvPr/>
        </p:nvPicPr>
        <p:blipFill>
          <a:blip r:embed="rId5"/>
          <a:stretch>
            <a:fillRect/>
          </a:stretch>
        </p:blipFill>
        <p:spPr>
          <a:xfrm>
            <a:off x="8185403" y="4178709"/>
            <a:ext cx="3190519" cy="2490405"/>
          </a:xfrm>
          <a:prstGeom prst="rect">
            <a:avLst/>
          </a:prstGeom>
        </p:spPr>
      </p:pic>
    </p:spTree>
    <p:extLst>
      <p:ext uri="{BB962C8B-B14F-4D97-AF65-F5344CB8AC3E}">
        <p14:creationId xmlns:p14="http://schemas.microsoft.com/office/powerpoint/2010/main" val="423232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0B0FE-4C77-1B7C-EFF2-C722C50A2C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861DF6-AAC7-E61E-AFCE-14285A8D997B}"/>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251FA181-D710-F84D-15EC-8776F196CB56}"/>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15A295A-84D6-F6A7-DE97-45766C381105}"/>
              </a:ext>
            </a:extLst>
          </p:cNvPr>
          <p:cNvSpPr txBox="1"/>
          <p:nvPr/>
        </p:nvSpPr>
        <p:spPr>
          <a:xfrm>
            <a:off x="353961" y="930277"/>
            <a:ext cx="11405419" cy="2862322"/>
          </a:xfrm>
          <a:prstGeom prst="rect">
            <a:avLst/>
          </a:prstGeom>
          <a:noFill/>
        </p:spPr>
        <p:txBody>
          <a:bodyPr wrap="square">
            <a:spAutoFit/>
          </a:bodyPr>
          <a:lstStyle/>
          <a:p>
            <a:r>
              <a:rPr lang="en-US" sz="1800" b="1" dirty="0">
                <a:solidFill>
                  <a:srgbClr val="A9B7C6"/>
                </a:solidFill>
                <a:effectLst/>
                <a:latin typeface="JetBrains Mono"/>
              </a:rPr>
              <a:t>V. Infrastructure Design: Cloud vs. on-premise decision, deployment diagrams, and scalability plans.</a:t>
            </a:r>
          </a:p>
          <a:p>
            <a:endParaRPr lang="en-US" sz="1800" dirty="0">
              <a:solidFill>
                <a:srgbClr val="A9B7C6"/>
              </a:solidFill>
              <a:effectLst/>
              <a:latin typeface="JetBrains Mono"/>
            </a:endParaRPr>
          </a:p>
          <a:p>
            <a:r>
              <a:rPr lang="en-US" sz="1800" dirty="0">
                <a:solidFill>
                  <a:srgbClr val="A9B7C6"/>
                </a:solidFill>
                <a:effectLst/>
                <a:latin typeface="JetBrains Mono"/>
              </a:rPr>
              <a:t>A blueprint for the physical or cloud environment where </a:t>
            </a:r>
          </a:p>
          <a:p>
            <a:r>
              <a:rPr lang="en-US" sz="1800" dirty="0">
                <a:solidFill>
                  <a:srgbClr val="A9B7C6"/>
                </a:solidFill>
                <a:effectLst/>
                <a:latin typeface="JetBrains Mono"/>
              </a:rPr>
              <a:t>your software will live and run. It answers: "Where will </a:t>
            </a:r>
          </a:p>
          <a:p>
            <a:r>
              <a:rPr lang="en-US" sz="1800" dirty="0">
                <a:solidFill>
                  <a:srgbClr val="A9B7C6"/>
                </a:solidFill>
                <a:effectLst/>
                <a:latin typeface="JetBrains Mono"/>
              </a:rPr>
              <a:t>this be deployed, and how will it handle traffic, failures, </a:t>
            </a:r>
          </a:p>
          <a:p>
            <a:r>
              <a:rPr lang="en-US" sz="1800" dirty="0">
                <a:solidFill>
                  <a:srgbClr val="A9B7C6"/>
                </a:solidFill>
                <a:effectLst/>
                <a:latin typeface="JetBrains Mono"/>
              </a:rPr>
              <a:t>and scaling?“</a:t>
            </a:r>
          </a:p>
          <a:p>
            <a:endParaRPr lang="en-US" dirty="0">
              <a:solidFill>
                <a:srgbClr val="A9B7C6"/>
              </a:solidFill>
              <a:latin typeface="JetBrains Mono"/>
            </a:endParaRPr>
          </a:p>
          <a:p>
            <a:r>
              <a:rPr lang="en-US" sz="1800" dirty="0">
                <a:solidFill>
                  <a:srgbClr val="A9B7C6"/>
                </a:solidFill>
                <a:effectLst/>
                <a:latin typeface="JetBrains Mono"/>
              </a:rPr>
              <a:t>1. Deployment diagram</a:t>
            </a:r>
          </a:p>
          <a:p>
            <a:endParaRPr lang="en-US" dirty="0">
              <a:solidFill>
                <a:srgbClr val="A9B7C6"/>
              </a:solidFill>
              <a:latin typeface="JetBrains Mono"/>
            </a:endParaRPr>
          </a:p>
          <a:p>
            <a:r>
              <a:rPr lang="en-US" sz="1800" dirty="0">
                <a:solidFill>
                  <a:srgbClr val="A9B7C6"/>
                </a:solidFill>
                <a:effectLst/>
                <a:latin typeface="JetBrains Mono"/>
              </a:rPr>
              <a:t>2. Infrastructure specification</a:t>
            </a:r>
          </a:p>
        </p:txBody>
      </p:sp>
      <p:pic>
        <p:nvPicPr>
          <p:cNvPr id="5" name="Picture 4">
            <a:extLst>
              <a:ext uri="{FF2B5EF4-FFF2-40B4-BE49-F238E27FC236}">
                <a16:creationId xmlns:a16="http://schemas.microsoft.com/office/drawing/2014/main" id="{41A3FCA1-F27A-B0B5-2DAF-3720F0A70CDF}"/>
              </a:ext>
            </a:extLst>
          </p:cNvPr>
          <p:cNvPicPr>
            <a:picLocks noChangeAspect="1"/>
          </p:cNvPicPr>
          <p:nvPr/>
        </p:nvPicPr>
        <p:blipFill>
          <a:blip r:embed="rId2"/>
          <a:stretch>
            <a:fillRect/>
          </a:stretch>
        </p:blipFill>
        <p:spPr>
          <a:xfrm>
            <a:off x="7020232" y="1285844"/>
            <a:ext cx="5043948" cy="3584368"/>
          </a:xfrm>
          <a:prstGeom prst="rect">
            <a:avLst/>
          </a:prstGeom>
        </p:spPr>
      </p:pic>
      <p:pic>
        <p:nvPicPr>
          <p:cNvPr id="9" name="Picture 8">
            <a:extLst>
              <a:ext uri="{FF2B5EF4-FFF2-40B4-BE49-F238E27FC236}">
                <a16:creationId xmlns:a16="http://schemas.microsoft.com/office/drawing/2014/main" id="{D9EDB552-436C-E2A8-A28C-9B7BFF84E358}"/>
              </a:ext>
            </a:extLst>
          </p:cNvPr>
          <p:cNvPicPr>
            <a:picLocks noChangeAspect="1"/>
          </p:cNvPicPr>
          <p:nvPr/>
        </p:nvPicPr>
        <p:blipFill>
          <a:blip r:embed="rId3"/>
          <a:stretch>
            <a:fillRect/>
          </a:stretch>
        </p:blipFill>
        <p:spPr>
          <a:xfrm>
            <a:off x="127819" y="4976477"/>
            <a:ext cx="11936362" cy="1771676"/>
          </a:xfrm>
          <a:prstGeom prst="rect">
            <a:avLst/>
          </a:prstGeom>
        </p:spPr>
      </p:pic>
    </p:spTree>
    <p:extLst>
      <p:ext uri="{BB962C8B-B14F-4D97-AF65-F5344CB8AC3E}">
        <p14:creationId xmlns:p14="http://schemas.microsoft.com/office/powerpoint/2010/main" val="120534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8C1C7-834F-8CB1-ED0F-52AD182F62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9E23D8-3D68-F8B6-862B-69AD61C69FA8}"/>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D7346291-C260-58F0-AD48-66C49114C892}"/>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D272B17-3632-D695-D8F9-819B821139AB}"/>
              </a:ext>
            </a:extLst>
          </p:cNvPr>
          <p:cNvSpPr txBox="1"/>
          <p:nvPr/>
        </p:nvSpPr>
        <p:spPr>
          <a:xfrm>
            <a:off x="353961" y="930277"/>
            <a:ext cx="11405419" cy="2308324"/>
          </a:xfrm>
          <a:prstGeom prst="rect">
            <a:avLst/>
          </a:prstGeom>
          <a:noFill/>
        </p:spPr>
        <p:txBody>
          <a:bodyPr wrap="square">
            <a:spAutoFit/>
          </a:bodyPr>
          <a:lstStyle/>
          <a:p>
            <a:r>
              <a:rPr lang="en-US" sz="1800" b="1" dirty="0">
                <a:solidFill>
                  <a:srgbClr val="A9B7C6"/>
                </a:solidFill>
                <a:effectLst/>
                <a:latin typeface="JetBrains Mono"/>
              </a:rPr>
              <a:t>VI. API Contract / Interface Definitions: Clear specifications for how modules communicate (REST, </a:t>
            </a:r>
            <a:r>
              <a:rPr lang="en-US" sz="1800" b="1" dirty="0" err="1">
                <a:solidFill>
                  <a:srgbClr val="A9B7C6"/>
                </a:solidFill>
                <a:effectLst/>
                <a:latin typeface="JetBrains Mono"/>
              </a:rPr>
              <a:t>GraphQL</a:t>
            </a:r>
            <a:r>
              <a:rPr lang="en-US" sz="1800" b="1" dirty="0">
                <a:solidFill>
                  <a:srgbClr val="A9B7C6"/>
                </a:solidFill>
                <a:effectLst/>
                <a:latin typeface="JetBrains Mono"/>
              </a:rPr>
              <a:t>, message queues)</a:t>
            </a:r>
            <a:r>
              <a:rPr lang="en-US" sz="1800" dirty="0">
                <a:solidFill>
                  <a:srgbClr val="A9B7C6"/>
                </a:solidFill>
                <a:effectLst/>
                <a:latin typeface="JetBrains Mono"/>
              </a:rPr>
              <a:t>.</a:t>
            </a:r>
            <a:br>
              <a:rPr lang="en-US" sz="1800" dirty="0">
                <a:solidFill>
                  <a:srgbClr val="A9B7C6"/>
                </a:solidFill>
                <a:effectLst/>
                <a:latin typeface="JetBrains Mono"/>
              </a:rPr>
            </a:br>
            <a:endParaRPr lang="en-US" sz="1800" dirty="0">
              <a:solidFill>
                <a:srgbClr val="A9B7C6"/>
              </a:solidFill>
              <a:effectLst/>
              <a:latin typeface="JetBrains Mono"/>
            </a:endParaRPr>
          </a:p>
          <a:p>
            <a:r>
              <a:rPr lang="en-US" sz="1800" dirty="0">
                <a:solidFill>
                  <a:srgbClr val="A9B7C6"/>
                </a:solidFill>
                <a:effectLst/>
                <a:latin typeface="JetBrains Mono"/>
              </a:rPr>
              <a:t>The technical "handshake" agreement between modules. Since different teams might build </a:t>
            </a:r>
          </a:p>
          <a:p>
            <a:r>
              <a:rPr lang="en-US" sz="1800" dirty="0">
                <a:solidFill>
                  <a:srgbClr val="A9B7C6"/>
                </a:solidFill>
                <a:effectLst/>
                <a:latin typeface="JetBrains Mono"/>
              </a:rPr>
              <a:t>different modules, this defines how they talk to each other.</a:t>
            </a:r>
          </a:p>
          <a:p>
            <a:endParaRPr lang="en-US" dirty="0">
              <a:solidFill>
                <a:srgbClr val="A9B7C6"/>
              </a:solidFill>
              <a:latin typeface="JetBrains Mono"/>
            </a:endParaRPr>
          </a:p>
          <a:p>
            <a:r>
              <a:rPr lang="en-US" sz="1800" dirty="0">
                <a:solidFill>
                  <a:srgbClr val="A9B7C6"/>
                </a:solidFill>
                <a:effectLst/>
                <a:latin typeface="JetBrains Mono"/>
              </a:rPr>
              <a:t>1. </a:t>
            </a:r>
            <a:r>
              <a:rPr lang="en-US" sz="1800" dirty="0" err="1">
                <a:solidFill>
                  <a:srgbClr val="A9B7C6"/>
                </a:solidFill>
                <a:effectLst/>
                <a:latin typeface="JetBrains Mono"/>
              </a:rPr>
              <a:t>OpenAPI</a:t>
            </a:r>
            <a:r>
              <a:rPr lang="en-US" sz="1800" dirty="0">
                <a:solidFill>
                  <a:srgbClr val="A9B7C6"/>
                </a:solidFill>
                <a:effectLst/>
                <a:latin typeface="JetBrains Mono"/>
              </a:rPr>
              <a:t>/Swagger Specification		2. </a:t>
            </a:r>
            <a:r>
              <a:rPr lang="en-US" sz="1800" dirty="0" err="1">
                <a:solidFill>
                  <a:srgbClr val="A9B7C6"/>
                </a:solidFill>
                <a:effectLst/>
                <a:latin typeface="JetBrains Mono"/>
              </a:rPr>
              <a:t>AsyncAPI</a:t>
            </a:r>
            <a:r>
              <a:rPr lang="en-US" sz="1800" dirty="0">
                <a:solidFill>
                  <a:srgbClr val="A9B7C6"/>
                </a:solidFill>
                <a:effectLst/>
                <a:latin typeface="JetBrains Mono"/>
              </a:rPr>
              <a:t> Specification (For Event-Driven Communication)</a:t>
            </a:r>
          </a:p>
          <a:p>
            <a:r>
              <a:rPr lang="en-US" sz="1800" dirty="0">
                <a:solidFill>
                  <a:srgbClr val="A9B7C6"/>
                </a:solidFill>
                <a:effectLst/>
                <a:latin typeface="JetBrains Mono"/>
              </a:rPr>
              <a:t>3. API Style Guide: Naming Convention, Error Handling, Authentication, Versioning, etc.</a:t>
            </a:r>
          </a:p>
        </p:txBody>
      </p:sp>
      <p:pic>
        <p:nvPicPr>
          <p:cNvPr id="5" name="Picture 4">
            <a:extLst>
              <a:ext uri="{FF2B5EF4-FFF2-40B4-BE49-F238E27FC236}">
                <a16:creationId xmlns:a16="http://schemas.microsoft.com/office/drawing/2014/main" id="{CA5E98A9-9E9E-F03C-F888-DF767E470E5E}"/>
              </a:ext>
            </a:extLst>
          </p:cNvPr>
          <p:cNvPicPr>
            <a:picLocks noChangeAspect="1"/>
          </p:cNvPicPr>
          <p:nvPr/>
        </p:nvPicPr>
        <p:blipFill>
          <a:blip r:embed="rId2"/>
          <a:stretch>
            <a:fillRect/>
          </a:stretch>
        </p:blipFill>
        <p:spPr>
          <a:xfrm>
            <a:off x="127819" y="3281381"/>
            <a:ext cx="4188542" cy="3500015"/>
          </a:xfrm>
          <a:prstGeom prst="rect">
            <a:avLst/>
          </a:prstGeom>
        </p:spPr>
      </p:pic>
      <p:pic>
        <p:nvPicPr>
          <p:cNvPr id="9" name="Picture 8">
            <a:extLst>
              <a:ext uri="{FF2B5EF4-FFF2-40B4-BE49-F238E27FC236}">
                <a16:creationId xmlns:a16="http://schemas.microsoft.com/office/drawing/2014/main" id="{C13F4717-19FE-A159-9A11-F76342F3DEDD}"/>
              </a:ext>
            </a:extLst>
          </p:cNvPr>
          <p:cNvPicPr>
            <a:picLocks noChangeAspect="1"/>
          </p:cNvPicPr>
          <p:nvPr/>
        </p:nvPicPr>
        <p:blipFill>
          <a:blip r:embed="rId3"/>
          <a:stretch>
            <a:fillRect/>
          </a:stretch>
        </p:blipFill>
        <p:spPr>
          <a:xfrm>
            <a:off x="4712393" y="3281381"/>
            <a:ext cx="4058900" cy="3500015"/>
          </a:xfrm>
          <a:prstGeom prst="rect">
            <a:avLst/>
          </a:prstGeom>
        </p:spPr>
      </p:pic>
    </p:spTree>
    <p:extLst>
      <p:ext uri="{BB962C8B-B14F-4D97-AF65-F5344CB8AC3E}">
        <p14:creationId xmlns:p14="http://schemas.microsoft.com/office/powerpoint/2010/main" val="60099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41F44-E09D-A276-10F2-A8892A86EF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2D9BFD-13FB-303C-05E1-0915B94149C3}"/>
              </a:ext>
            </a:extLst>
          </p:cNvPr>
          <p:cNvSpPr txBox="1"/>
          <p:nvPr/>
        </p:nvSpPr>
        <p:spPr>
          <a:xfrm>
            <a:off x="353962" y="304801"/>
            <a:ext cx="8819536" cy="400110"/>
          </a:xfrm>
          <a:prstGeom prst="rect">
            <a:avLst/>
          </a:prstGeom>
          <a:noFill/>
        </p:spPr>
        <p:txBody>
          <a:bodyPr wrap="square" rtlCol="0">
            <a:spAutoFit/>
          </a:bodyPr>
          <a:lstStyle/>
          <a:p>
            <a:r>
              <a:rPr lang="en-US" sz="2000" b="1" dirty="0"/>
              <a:t>Architecture Output </a:t>
            </a:r>
            <a:r>
              <a:rPr lang="en-US" sz="2000" dirty="0"/>
              <a:t>(what is expected of the software architect)</a:t>
            </a:r>
            <a:endParaRPr lang="bg-BG" sz="2000" dirty="0"/>
          </a:p>
        </p:txBody>
      </p:sp>
      <p:cxnSp>
        <p:nvCxnSpPr>
          <p:cNvPr id="4" name="Straight Connector 3">
            <a:extLst>
              <a:ext uri="{FF2B5EF4-FFF2-40B4-BE49-F238E27FC236}">
                <a16:creationId xmlns:a16="http://schemas.microsoft.com/office/drawing/2014/main" id="{74FCB19B-A288-EEDA-F4F6-B88FA582ECF9}"/>
              </a:ext>
            </a:extLst>
          </p:cNvPr>
          <p:cNvCxnSpPr/>
          <p:nvPr/>
        </p:nvCxnSpPr>
        <p:spPr>
          <a:xfrm>
            <a:off x="127819" y="704911"/>
            <a:ext cx="1193636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16DA130-901B-BB67-0AEA-4277E426E682}"/>
              </a:ext>
            </a:extLst>
          </p:cNvPr>
          <p:cNvSpPr txBox="1"/>
          <p:nvPr/>
        </p:nvSpPr>
        <p:spPr>
          <a:xfrm>
            <a:off x="353961" y="930277"/>
            <a:ext cx="11405419" cy="3139321"/>
          </a:xfrm>
          <a:prstGeom prst="rect">
            <a:avLst/>
          </a:prstGeom>
          <a:noFill/>
        </p:spPr>
        <p:txBody>
          <a:bodyPr wrap="square">
            <a:spAutoFit/>
          </a:bodyPr>
          <a:lstStyle/>
          <a:p>
            <a:r>
              <a:rPr lang="en-US" sz="1800" b="1" dirty="0">
                <a:solidFill>
                  <a:srgbClr val="A9B7C6"/>
                </a:solidFill>
                <a:effectLst/>
                <a:latin typeface="JetBrains Mono"/>
              </a:rPr>
              <a:t>VII. Technical Roadmap: Prioritized breakdown of which modules to build first based on technical dependencies</a:t>
            </a:r>
            <a:r>
              <a:rPr lang="en-US" sz="1800" dirty="0">
                <a:solidFill>
                  <a:srgbClr val="A9B7C6"/>
                </a:solidFill>
                <a:effectLst/>
                <a:latin typeface="JetBrains Mono"/>
              </a:rPr>
              <a:t>.</a:t>
            </a:r>
            <a:br>
              <a:rPr lang="en-US" sz="1800" dirty="0">
                <a:solidFill>
                  <a:srgbClr val="A9B7C6"/>
                </a:solidFill>
                <a:effectLst/>
                <a:latin typeface="JetBrains Mono"/>
              </a:rPr>
            </a:br>
            <a:endParaRPr lang="en-US" sz="1800" dirty="0">
              <a:solidFill>
                <a:srgbClr val="A9B7C6"/>
              </a:solidFill>
              <a:effectLst/>
              <a:latin typeface="JetBrains Mono"/>
            </a:endParaRPr>
          </a:p>
          <a:p>
            <a:r>
              <a:rPr lang="en-US" sz="1800" dirty="0">
                <a:solidFill>
                  <a:srgbClr val="A9B7C6"/>
                </a:solidFill>
                <a:effectLst/>
                <a:latin typeface="JetBrains Mono"/>
              </a:rPr>
              <a:t>A phased plan for building the software based on the architecture</a:t>
            </a:r>
          </a:p>
          <a:p>
            <a:endParaRPr lang="en-US" sz="1800" dirty="0">
              <a:solidFill>
                <a:srgbClr val="A9B7C6"/>
              </a:solidFill>
              <a:effectLst/>
              <a:latin typeface="JetBrains Mono"/>
            </a:endParaRPr>
          </a:p>
          <a:p>
            <a:r>
              <a:rPr lang="en-US" sz="1800" dirty="0">
                <a:solidFill>
                  <a:srgbClr val="A9B7C6"/>
                </a:solidFill>
                <a:effectLst/>
                <a:latin typeface="JetBrains Mono"/>
              </a:rPr>
              <a:t>1. Gantt chart or Timeline view</a:t>
            </a:r>
          </a:p>
          <a:p>
            <a:r>
              <a:rPr lang="en-US" sz="1800" dirty="0">
                <a:solidFill>
                  <a:srgbClr val="A9B7C6"/>
                </a:solidFill>
                <a:effectLst/>
                <a:latin typeface="JetBrains Mono"/>
              </a:rPr>
              <a:t>    Phase 1 (MVP): Core Module 1, Module 2, Database Setup, Authentication.</a:t>
            </a:r>
          </a:p>
          <a:p>
            <a:r>
              <a:rPr lang="en-US" sz="1800" dirty="0">
                <a:solidFill>
                  <a:srgbClr val="A9B7C6"/>
                </a:solidFill>
                <a:effectLst/>
                <a:latin typeface="JetBrains Mono"/>
              </a:rPr>
              <a:t>    Phase 2 (AI Integration): Implement AI agent in Module 3, Setup Vector DB.</a:t>
            </a:r>
          </a:p>
          <a:p>
            <a:r>
              <a:rPr lang="en-US" sz="1800" dirty="0">
                <a:solidFill>
                  <a:srgbClr val="A9B7C6"/>
                </a:solidFill>
                <a:effectLst/>
                <a:latin typeface="JetBrains Mono"/>
              </a:rPr>
              <a:t>    Phase 3: Remaining modules.</a:t>
            </a:r>
          </a:p>
          <a:p>
            <a:r>
              <a:rPr lang="en-US" sz="1800" dirty="0">
                <a:solidFill>
                  <a:srgbClr val="A9B7C6"/>
                </a:solidFill>
                <a:effectLst/>
                <a:latin typeface="JetBrains Mono"/>
              </a:rPr>
              <a:t>    </a:t>
            </a:r>
          </a:p>
          <a:p>
            <a:r>
              <a:rPr lang="en-US" sz="1800" dirty="0">
                <a:solidFill>
                  <a:srgbClr val="A9B7C6"/>
                </a:solidFill>
                <a:effectLst/>
                <a:latin typeface="JetBrains Mono"/>
              </a:rPr>
              <a:t>Text: Identification of "critical path" dependencies (e.g., "Module 5 cannot start until the Data Architecture for Module 1 is complete").</a:t>
            </a:r>
          </a:p>
        </p:txBody>
      </p:sp>
    </p:spTree>
    <p:extLst>
      <p:ext uri="{BB962C8B-B14F-4D97-AF65-F5344CB8AC3E}">
        <p14:creationId xmlns:p14="http://schemas.microsoft.com/office/powerpoint/2010/main" val="1249535027"/>
      </p:ext>
    </p:extLst>
  </p:cSld>
  <p:clrMapOvr>
    <a:masterClrMapping/>
  </p:clrMapOvr>
</p:sld>
</file>

<file path=ppt/theme/theme1.xml><?xml version="1.0" encoding="utf-8"?>
<a:theme xmlns:a="http://schemas.openxmlformats.org/drawingml/2006/main" name="EncaseVTI">
  <a:themeElements>
    <a:clrScheme name="Encase">
      <a:dk1>
        <a:sysClr val="windowText" lastClr="000000"/>
      </a:dk1>
      <a:lt1>
        <a:sysClr val="window" lastClr="FFFFFF"/>
      </a:lt1>
      <a:dk2>
        <a:srgbClr val="1E2121"/>
      </a:dk2>
      <a:lt2>
        <a:srgbClr val="EFECEB"/>
      </a:lt2>
      <a:accent1>
        <a:srgbClr val="717059"/>
      </a:accent1>
      <a:accent2>
        <a:srgbClr val="B9A17E"/>
      </a:accent2>
      <a:accent3>
        <a:srgbClr val="766752"/>
      </a:accent3>
      <a:accent4>
        <a:srgbClr val="A28578"/>
      </a:accent4>
      <a:accent5>
        <a:srgbClr val="6E736D"/>
      </a:accent5>
      <a:accent6>
        <a:srgbClr val="BE8366"/>
      </a:accent6>
      <a:hlink>
        <a:srgbClr val="B5714F"/>
      </a:hlink>
      <a:folHlink>
        <a:srgbClr val="7B6B4C"/>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caseVTI" id="{C293990F-FDB3-4ED3-8175-FB79CE5A2A12}" vid="{A5662C19-271F-459F-B4ED-861A98237642}"/>
    </a:ext>
  </a:extLst>
</a:theme>
</file>

<file path=docProps/app.xml><?xml version="1.0" encoding="utf-8"?>
<Properties xmlns="http://schemas.openxmlformats.org/officeDocument/2006/extended-properties" xmlns:vt="http://schemas.openxmlformats.org/officeDocument/2006/docPropsVTypes">
  <TotalTime>27</TotalTime>
  <Words>714</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Avenir Next LT Pro</vt:lpstr>
      <vt:lpstr>Avenir Next LT Pro Light</vt:lpstr>
      <vt:lpstr>JetBrains Mono</vt:lpstr>
      <vt:lpstr>EncaseVTI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Zorov</dc:creator>
  <cp:lastModifiedBy>Daniel Zorov</cp:lastModifiedBy>
  <cp:revision>14</cp:revision>
  <dcterms:created xsi:type="dcterms:W3CDTF">2026-02-26T08:14:53Z</dcterms:created>
  <dcterms:modified xsi:type="dcterms:W3CDTF">2026-02-26T08:42:11Z</dcterms:modified>
</cp:coreProperties>
</file>